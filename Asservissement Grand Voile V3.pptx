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64131B-A384-4A02-BF38-94608B7EF921}">
  <a:tblStyle styleId="{9664131B-A384-4A02-BF38-94608B7EF9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7191a1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417191a1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417191a1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417191a1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417191a1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417191a1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417191a1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417191a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417191a1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417191a1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417191a12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417191a12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417191a12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417191a12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417191a12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e417191a12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e417191a12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e417191a12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417191a12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e417191a12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e417191a12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e417191a12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1d865c306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1d865c306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9f4883ef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29f4883ef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29f4883e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29f4883e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29f4883ef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29f4883ef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2cd6120519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2cd612051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29f4883ef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29f4883ef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e417191a1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e417191a1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3f1adff6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3f1adff6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2b08ec72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2b08ec72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2b08ec72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2b08ec72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2b08ec72f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2b08ec72f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7983300" y="0"/>
            <a:ext cx="1160700" cy="51435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0" y="0"/>
            <a:ext cx="1160700" cy="51435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1795300"/>
            <a:ext cx="1164675" cy="155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79325" y="1409329"/>
            <a:ext cx="1164675" cy="20160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www.yachting.com/fr-fr/news/sail-trim-fundamental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5250" y="898913"/>
            <a:ext cx="2483402" cy="18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4160546" y="3750523"/>
            <a:ext cx="1685400" cy="696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Système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FF"/>
                </a:solidFill>
              </a:rPr>
              <a:t>Grand Voile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204307" y="3176225"/>
            <a:ext cx="1901767" cy="696864"/>
          </a:xfrm>
          <a:prstGeom prst="flowChartDisplay">
            <a:avLst/>
          </a:prstGeom>
          <a:solidFill>
            <a:srgbClr val="D9EAD3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1204297" y="4292257"/>
            <a:ext cx="1901767" cy="696864"/>
          </a:xfrm>
          <a:prstGeom prst="flowChartDisplay">
            <a:avLst/>
          </a:prstGeom>
          <a:solidFill>
            <a:srgbClr val="D9EAD3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1293065" y="3176225"/>
            <a:ext cx="17241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fr">
                <a:solidFill>
                  <a:srgbClr val="274E13"/>
                </a:solidFill>
              </a:rPr>
              <a:t>Direction</a:t>
            </a:r>
            <a:endParaRPr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fr">
                <a:solidFill>
                  <a:srgbClr val="274E13"/>
                </a:solidFill>
              </a:rPr>
              <a:t>Vent</a:t>
            </a:r>
            <a:endParaRPr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>
                <a:solidFill>
                  <a:srgbClr val="0000FF"/>
                </a:solidFill>
              </a:rPr>
              <a:t>(Girouette - Gui et Kad)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293050" y="4358250"/>
            <a:ext cx="17241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>
                <a:solidFill>
                  <a:srgbClr val="274E13"/>
                </a:solidFill>
              </a:rPr>
              <a:t>Cap souhaité</a:t>
            </a:r>
            <a:endParaRPr sz="10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>
                <a:solidFill>
                  <a:srgbClr val="0000FF"/>
                </a:solidFill>
              </a:rPr>
              <a:t>(Nav - JB et Siméon)</a:t>
            </a:r>
            <a:endParaRPr sz="1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64" name="Google Shape;64;p13"/>
          <p:cNvCxnSpPr>
            <a:endCxn id="59" idx="1"/>
          </p:cNvCxnSpPr>
          <p:nvPr/>
        </p:nvCxnSpPr>
        <p:spPr>
          <a:xfrm>
            <a:off x="3106046" y="3524473"/>
            <a:ext cx="1054500" cy="5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endCxn id="59" idx="1"/>
          </p:cNvCxnSpPr>
          <p:nvPr/>
        </p:nvCxnSpPr>
        <p:spPr>
          <a:xfrm flipH="1" rot="10800000">
            <a:off x="3106046" y="4098973"/>
            <a:ext cx="1054500" cy="5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>
            <a:stCxn id="59" idx="3"/>
          </p:cNvCxnSpPr>
          <p:nvPr/>
        </p:nvCxnSpPr>
        <p:spPr>
          <a:xfrm>
            <a:off x="5845946" y="4098973"/>
            <a:ext cx="5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3"/>
          <p:cNvSpPr txBox="1"/>
          <p:nvPr/>
        </p:nvSpPr>
        <p:spPr>
          <a:xfrm>
            <a:off x="6226830" y="3769325"/>
            <a:ext cx="19017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741B47"/>
                </a:solidFill>
              </a:rPr>
              <a:t>Ouverture</a:t>
            </a:r>
            <a:endParaRPr sz="18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741B47"/>
                </a:solidFill>
              </a:rPr>
              <a:t>Grand voile</a:t>
            </a:r>
            <a:endParaRPr sz="1800">
              <a:solidFill>
                <a:srgbClr val="741B47"/>
              </a:solidFill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3329225" y="843650"/>
            <a:ext cx="2975400" cy="1941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0" y="0"/>
            <a:ext cx="91530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1522350" y="1719750"/>
            <a:ext cx="6961800" cy="17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V3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ref : </a:t>
            </a:r>
            <a:r>
              <a:rPr lang="fr" sz="18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https://www.yachting.com/fr-fr/news/sail-trim-fundamentals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14"/>
          <p:cNvCxnSpPr>
            <a:stCxn id="78" idx="4"/>
            <a:endCxn id="78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4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4" name="Google Shape;84;p14"/>
          <p:cNvCxnSpPr>
            <a:stCxn id="78" idx="6"/>
            <a:endCxn id="78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4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7" name="Google Shape;87;p14"/>
          <p:cNvCxnSpPr>
            <a:endCxn id="78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4"/>
          <p:cNvSpPr txBox="1"/>
          <p:nvPr/>
        </p:nvSpPr>
        <p:spPr>
          <a:xfrm>
            <a:off x="2375850" y="238330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583300" y="2376438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1600675" y="1301875"/>
            <a:ext cx="1792800" cy="62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I Mécanique de la voile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" name="Google Shape;104;p15"/>
          <p:cNvCxnSpPr>
            <a:stCxn id="102" idx="4"/>
            <a:endCxn id="102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5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8" name="Google Shape;108;p15"/>
          <p:cNvCxnSpPr>
            <a:stCxn id="102" idx="6"/>
            <a:endCxn id="102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5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1" name="Google Shape;111;p15"/>
          <p:cNvCxnSpPr>
            <a:endCxn id="102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5"/>
          <p:cNvSpPr txBox="1"/>
          <p:nvPr/>
        </p:nvSpPr>
        <p:spPr>
          <a:xfrm>
            <a:off x="2375850" y="238330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583300" y="2376438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cxnSp>
        <p:nvCxnSpPr>
          <p:cNvPr id="118" name="Google Shape;118;p15"/>
          <p:cNvCxnSpPr/>
          <p:nvPr/>
        </p:nvCxnSpPr>
        <p:spPr>
          <a:xfrm flipH="1" rot="10800000">
            <a:off x="2817175" y="3020100"/>
            <a:ext cx="1227300" cy="757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5"/>
          <p:cNvSpPr txBox="1"/>
          <p:nvPr/>
        </p:nvSpPr>
        <p:spPr>
          <a:xfrm>
            <a:off x="1728725" y="3734900"/>
            <a:ext cx="2315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Vent Apparent &lt; 90°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On borde au max</a:t>
            </a:r>
            <a:endParaRPr sz="1500">
              <a:solidFill>
                <a:srgbClr val="0000FF"/>
              </a:solidFill>
            </a:endParaRPr>
          </a:p>
        </p:txBody>
      </p:sp>
      <p:cxnSp>
        <p:nvCxnSpPr>
          <p:cNvPr id="120" name="Google Shape;120;p15"/>
          <p:cNvCxnSpPr/>
          <p:nvPr/>
        </p:nvCxnSpPr>
        <p:spPr>
          <a:xfrm rot="10800000">
            <a:off x="4588475" y="1814150"/>
            <a:ext cx="10800" cy="1013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5"/>
          <p:cNvCxnSpPr/>
          <p:nvPr/>
        </p:nvCxnSpPr>
        <p:spPr>
          <a:xfrm flipH="1" rot="10800000">
            <a:off x="3934275" y="2172600"/>
            <a:ext cx="545700" cy="2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5"/>
          <p:cNvCxnSpPr/>
          <p:nvPr/>
        </p:nvCxnSpPr>
        <p:spPr>
          <a:xfrm flipH="1" rot="10800000">
            <a:off x="3934275" y="2032150"/>
            <a:ext cx="545700" cy="2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5"/>
          <p:cNvCxnSpPr/>
          <p:nvPr/>
        </p:nvCxnSpPr>
        <p:spPr>
          <a:xfrm flipH="1" rot="10800000">
            <a:off x="3934275" y="1874075"/>
            <a:ext cx="545700" cy="2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5"/>
          <p:cNvCxnSpPr/>
          <p:nvPr/>
        </p:nvCxnSpPr>
        <p:spPr>
          <a:xfrm rot="10800000">
            <a:off x="4707775" y="2181413"/>
            <a:ext cx="545700" cy="27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5"/>
          <p:cNvCxnSpPr/>
          <p:nvPr/>
        </p:nvCxnSpPr>
        <p:spPr>
          <a:xfrm rot="10800000">
            <a:off x="4707775" y="2040963"/>
            <a:ext cx="545700" cy="27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5"/>
          <p:cNvCxnSpPr/>
          <p:nvPr/>
        </p:nvCxnSpPr>
        <p:spPr>
          <a:xfrm rot="10800000">
            <a:off x="4707775" y="1882888"/>
            <a:ext cx="545700" cy="27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5"/>
          <p:cNvSpPr/>
          <p:nvPr/>
        </p:nvSpPr>
        <p:spPr>
          <a:xfrm>
            <a:off x="5409625" y="1259200"/>
            <a:ext cx="2135100" cy="111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L’écoute ne peut pas “pousser la voile”. En la tirant au max, la meilleur position obtenable est donc bordée. 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16"/>
          <p:cNvCxnSpPr>
            <a:stCxn id="135" idx="4"/>
            <a:endCxn id="135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6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16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1" name="Google Shape;141;p16"/>
          <p:cNvCxnSpPr>
            <a:stCxn id="135" idx="6"/>
            <a:endCxn id="135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6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16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4" name="Google Shape;144;p16"/>
          <p:cNvCxnSpPr>
            <a:endCxn id="135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6"/>
          <p:cNvSpPr txBox="1"/>
          <p:nvPr/>
        </p:nvSpPr>
        <p:spPr>
          <a:xfrm>
            <a:off x="2375850" y="238330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959600" y="275085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cxnSp>
        <p:nvCxnSpPr>
          <p:cNvPr id="151" name="Google Shape;151;p16"/>
          <p:cNvCxnSpPr/>
          <p:nvPr/>
        </p:nvCxnSpPr>
        <p:spPr>
          <a:xfrm>
            <a:off x="3062575" y="1220750"/>
            <a:ext cx="939300" cy="971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16"/>
          <p:cNvSpPr txBox="1"/>
          <p:nvPr/>
        </p:nvSpPr>
        <p:spPr>
          <a:xfrm>
            <a:off x="1728725" y="3734900"/>
            <a:ext cx="2315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Vent Apparent &gt; 90°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On rel</a:t>
            </a:r>
            <a:r>
              <a:rPr lang="fr" sz="1500">
                <a:solidFill>
                  <a:srgbClr val="0000FF"/>
                </a:solidFill>
              </a:rPr>
              <a:t>âche</a:t>
            </a:r>
            <a:endParaRPr sz="1500">
              <a:solidFill>
                <a:srgbClr val="0000FF"/>
              </a:solidFill>
            </a:endParaRPr>
          </a:p>
        </p:txBody>
      </p:sp>
      <p:cxnSp>
        <p:nvCxnSpPr>
          <p:cNvPr id="153" name="Google Shape;153;p16"/>
          <p:cNvCxnSpPr/>
          <p:nvPr/>
        </p:nvCxnSpPr>
        <p:spPr>
          <a:xfrm flipH="1" rot="10800000">
            <a:off x="4599275" y="2016950"/>
            <a:ext cx="864300" cy="810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6"/>
          <p:cNvCxnSpPr/>
          <p:nvPr/>
        </p:nvCxnSpPr>
        <p:spPr>
          <a:xfrm flipH="1" rot="-8100000">
            <a:off x="4492990" y="2017392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6"/>
          <p:cNvCxnSpPr/>
          <p:nvPr/>
        </p:nvCxnSpPr>
        <p:spPr>
          <a:xfrm flipH="1" rot="-8100000">
            <a:off x="4592303" y="1918079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6"/>
          <p:cNvCxnSpPr/>
          <p:nvPr/>
        </p:nvCxnSpPr>
        <p:spPr>
          <a:xfrm flipH="1" rot="-8100000">
            <a:off x="4704079" y="1806303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6"/>
          <p:cNvCxnSpPr/>
          <p:nvPr/>
        </p:nvCxnSpPr>
        <p:spPr>
          <a:xfrm rot="-8100000">
            <a:off x="5330633" y="2665373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6"/>
          <p:cNvCxnSpPr/>
          <p:nvPr/>
        </p:nvCxnSpPr>
        <p:spPr>
          <a:xfrm rot="-8100000">
            <a:off x="5429946" y="2566060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6"/>
          <p:cNvCxnSpPr/>
          <p:nvPr/>
        </p:nvCxnSpPr>
        <p:spPr>
          <a:xfrm rot="-8100000">
            <a:off x="5541722" y="2454284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6"/>
          <p:cNvSpPr/>
          <p:nvPr/>
        </p:nvSpPr>
        <p:spPr>
          <a:xfrm>
            <a:off x="5718775" y="3339500"/>
            <a:ext cx="2135100" cy="111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Sous le vent on essaie de garder un angle de 90°. </a:t>
            </a:r>
            <a:r>
              <a:rPr lang="fr">
                <a:solidFill>
                  <a:srgbClr val="00FF00"/>
                </a:solidFill>
              </a:rPr>
              <a:t> 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Google Shape;170;p17"/>
          <p:cNvCxnSpPr>
            <a:stCxn id="168" idx="4"/>
            <a:endCxn id="168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17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17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4" name="Google Shape;174;p17"/>
          <p:cNvCxnSpPr>
            <a:stCxn id="168" idx="6"/>
            <a:endCxn id="168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7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17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7" name="Google Shape;177;p17"/>
          <p:cNvCxnSpPr>
            <a:endCxn id="168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7"/>
          <p:cNvSpPr txBox="1"/>
          <p:nvPr/>
        </p:nvSpPr>
        <p:spPr>
          <a:xfrm>
            <a:off x="2375850" y="238330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4959600" y="275085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cxnSp>
        <p:nvCxnSpPr>
          <p:cNvPr id="184" name="Google Shape;184;p17"/>
          <p:cNvCxnSpPr/>
          <p:nvPr/>
        </p:nvCxnSpPr>
        <p:spPr>
          <a:xfrm flipH="1">
            <a:off x="5508950" y="1000000"/>
            <a:ext cx="842700" cy="83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17"/>
          <p:cNvSpPr txBox="1"/>
          <p:nvPr/>
        </p:nvSpPr>
        <p:spPr>
          <a:xfrm>
            <a:off x="1728725" y="3734900"/>
            <a:ext cx="2315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Vent Apparent &gt; 90°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On relâche</a:t>
            </a:r>
            <a:endParaRPr sz="1500">
              <a:solidFill>
                <a:srgbClr val="0000FF"/>
              </a:solidFill>
            </a:endParaRPr>
          </a:p>
        </p:txBody>
      </p:sp>
      <p:cxnSp>
        <p:nvCxnSpPr>
          <p:cNvPr id="186" name="Google Shape;186;p17"/>
          <p:cNvCxnSpPr/>
          <p:nvPr/>
        </p:nvCxnSpPr>
        <p:spPr>
          <a:xfrm flipH="1" rot="10800000">
            <a:off x="4599275" y="2016950"/>
            <a:ext cx="864300" cy="810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7"/>
          <p:cNvCxnSpPr/>
          <p:nvPr/>
        </p:nvCxnSpPr>
        <p:spPr>
          <a:xfrm rot="-8100000">
            <a:off x="5330633" y="2665373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7"/>
          <p:cNvCxnSpPr/>
          <p:nvPr/>
        </p:nvCxnSpPr>
        <p:spPr>
          <a:xfrm rot="-8100000">
            <a:off x="5429946" y="2566060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7"/>
          <p:cNvCxnSpPr/>
          <p:nvPr/>
        </p:nvCxnSpPr>
        <p:spPr>
          <a:xfrm rot="-8100000">
            <a:off x="5541722" y="2454284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17"/>
          <p:cNvSpPr/>
          <p:nvPr/>
        </p:nvSpPr>
        <p:spPr>
          <a:xfrm>
            <a:off x="1151125" y="1411788"/>
            <a:ext cx="2102100" cy="75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Que se passe-t-il si le vent change brusquement ?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18"/>
          <p:cNvCxnSpPr>
            <a:stCxn id="198" idx="4"/>
            <a:endCxn id="198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18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18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4" name="Google Shape;204;p18"/>
          <p:cNvCxnSpPr>
            <a:stCxn id="198" idx="6"/>
            <a:endCxn id="198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18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6" name="Google Shape;206;p18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7" name="Google Shape;207;p18"/>
          <p:cNvCxnSpPr>
            <a:endCxn id="198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8"/>
          <p:cNvSpPr txBox="1"/>
          <p:nvPr/>
        </p:nvSpPr>
        <p:spPr>
          <a:xfrm>
            <a:off x="3253225" y="2413563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4959600" y="275085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cxnSp>
        <p:nvCxnSpPr>
          <p:cNvPr id="214" name="Google Shape;214;p18"/>
          <p:cNvCxnSpPr/>
          <p:nvPr/>
        </p:nvCxnSpPr>
        <p:spPr>
          <a:xfrm flipH="1">
            <a:off x="5391600" y="805000"/>
            <a:ext cx="400200" cy="1115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18"/>
          <p:cNvSpPr txBox="1"/>
          <p:nvPr/>
        </p:nvSpPr>
        <p:spPr>
          <a:xfrm>
            <a:off x="2854975" y="3949250"/>
            <a:ext cx="2315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Vent Apparent &gt; 90°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On relâche</a:t>
            </a:r>
            <a:endParaRPr sz="1500">
              <a:solidFill>
                <a:srgbClr val="0000FF"/>
              </a:solidFill>
            </a:endParaRPr>
          </a:p>
        </p:txBody>
      </p:sp>
      <p:cxnSp>
        <p:nvCxnSpPr>
          <p:cNvPr id="216" name="Google Shape;216;p18"/>
          <p:cNvCxnSpPr/>
          <p:nvPr/>
        </p:nvCxnSpPr>
        <p:spPr>
          <a:xfrm flipH="1" rot="10800000">
            <a:off x="4599275" y="2016950"/>
            <a:ext cx="864300" cy="810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8"/>
          <p:cNvCxnSpPr/>
          <p:nvPr/>
        </p:nvCxnSpPr>
        <p:spPr>
          <a:xfrm rot="-8100000">
            <a:off x="5330633" y="2665373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18"/>
          <p:cNvCxnSpPr/>
          <p:nvPr/>
        </p:nvCxnSpPr>
        <p:spPr>
          <a:xfrm rot="-8100000">
            <a:off x="5429946" y="2566060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18"/>
          <p:cNvCxnSpPr/>
          <p:nvPr/>
        </p:nvCxnSpPr>
        <p:spPr>
          <a:xfrm rot="-8100000">
            <a:off x="5541722" y="2454284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18"/>
          <p:cNvSpPr/>
          <p:nvPr/>
        </p:nvSpPr>
        <p:spPr>
          <a:xfrm>
            <a:off x="1151125" y="1411788"/>
            <a:ext cx="2102100" cy="75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Que se passe-t-il si le vent change brusquement ?</a:t>
            </a:r>
            <a:endParaRPr>
              <a:solidFill>
                <a:srgbClr val="00FF00"/>
              </a:solidFill>
            </a:endParaRPr>
          </a:p>
        </p:txBody>
      </p:sp>
      <p:cxnSp>
        <p:nvCxnSpPr>
          <p:cNvPr id="221" name="Google Shape;221;p18"/>
          <p:cNvCxnSpPr/>
          <p:nvPr/>
        </p:nvCxnSpPr>
        <p:spPr>
          <a:xfrm flipH="1" rot="-8100000">
            <a:off x="4492990" y="2017392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18"/>
          <p:cNvCxnSpPr/>
          <p:nvPr/>
        </p:nvCxnSpPr>
        <p:spPr>
          <a:xfrm flipH="1" rot="-8100000">
            <a:off x="4592303" y="1918079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18"/>
          <p:cNvCxnSpPr/>
          <p:nvPr/>
        </p:nvCxnSpPr>
        <p:spPr>
          <a:xfrm flipH="1" rot="-8100000">
            <a:off x="4704079" y="1806303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18"/>
          <p:cNvSpPr/>
          <p:nvPr/>
        </p:nvSpPr>
        <p:spPr>
          <a:xfrm>
            <a:off x="1227175" y="2304975"/>
            <a:ext cx="15363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FF"/>
                </a:solidFill>
              </a:rPr>
              <a:t>L’angle de la GV peut ne pas changer (on met pour l’instant de côté ce problème, arrive jamais au essai, ou n’empêche pas d’avancer)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4342075" y="1415450"/>
            <a:ext cx="341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FF"/>
                </a:solidFill>
              </a:rPr>
              <a:t>1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5741575" y="1224075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FF"/>
                </a:solidFill>
              </a:rPr>
              <a:t>2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19"/>
          <p:cNvCxnSpPr>
            <a:stCxn id="234" idx="4"/>
            <a:endCxn id="234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19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19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9" name="Google Shape;239;p19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0" name="Google Shape;240;p19"/>
          <p:cNvCxnSpPr>
            <a:stCxn id="234" idx="6"/>
            <a:endCxn id="234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19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2" name="Google Shape;242;p19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3" name="Google Shape;243;p19"/>
          <p:cNvCxnSpPr>
            <a:endCxn id="234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9"/>
          <p:cNvSpPr txBox="1"/>
          <p:nvPr/>
        </p:nvSpPr>
        <p:spPr>
          <a:xfrm>
            <a:off x="3253225" y="2413563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2111425" y="2804300"/>
            <a:ext cx="23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cxnSp>
        <p:nvCxnSpPr>
          <p:cNvPr id="250" name="Google Shape;250;p19"/>
          <p:cNvCxnSpPr/>
          <p:nvPr/>
        </p:nvCxnSpPr>
        <p:spPr>
          <a:xfrm flipH="1">
            <a:off x="4951050" y="1408600"/>
            <a:ext cx="1024800" cy="593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19"/>
          <p:cNvSpPr txBox="1"/>
          <p:nvPr/>
        </p:nvSpPr>
        <p:spPr>
          <a:xfrm>
            <a:off x="1728725" y="3734900"/>
            <a:ext cx="2315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Vent Apparent &gt; 90°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FF"/>
                </a:solidFill>
              </a:rPr>
              <a:t>On relâche</a:t>
            </a:r>
            <a:endParaRPr sz="1500">
              <a:solidFill>
                <a:srgbClr val="0000FF"/>
              </a:solidFill>
            </a:endParaRPr>
          </a:p>
        </p:txBody>
      </p:sp>
      <p:cxnSp>
        <p:nvCxnSpPr>
          <p:cNvPr id="252" name="Google Shape;252;p19"/>
          <p:cNvCxnSpPr/>
          <p:nvPr/>
        </p:nvCxnSpPr>
        <p:spPr>
          <a:xfrm rot="10800000">
            <a:off x="3948400" y="1643450"/>
            <a:ext cx="630600" cy="1182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19"/>
          <p:cNvCxnSpPr/>
          <p:nvPr/>
        </p:nvCxnSpPr>
        <p:spPr>
          <a:xfrm flipH="1" rot="8100000">
            <a:off x="3546072" y="2201748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19"/>
          <p:cNvCxnSpPr/>
          <p:nvPr/>
        </p:nvCxnSpPr>
        <p:spPr>
          <a:xfrm flipH="1" rot="8100000">
            <a:off x="3446759" y="2102435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19"/>
          <p:cNvCxnSpPr/>
          <p:nvPr/>
        </p:nvCxnSpPr>
        <p:spPr>
          <a:xfrm flipH="1" rot="8100000">
            <a:off x="3334983" y="1990659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19"/>
          <p:cNvSpPr/>
          <p:nvPr/>
        </p:nvSpPr>
        <p:spPr>
          <a:xfrm>
            <a:off x="1151125" y="1411788"/>
            <a:ext cx="2102100" cy="75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Que se passe-t-il si le vent change brusquement ?</a:t>
            </a:r>
            <a:endParaRPr>
              <a:solidFill>
                <a:srgbClr val="00FF00"/>
              </a:solidFill>
            </a:endParaRPr>
          </a:p>
        </p:txBody>
      </p:sp>
      <p:cxnSp>
        <p:nvCxnSpPr>
          <p:cNvPr id="257" name="Google Shape;257;p19"/>
          <p:cNvCxnSpPr/>
          <p:nvPr/>
        </p:nvCxnSpPr>
        <p:spPr>
          <a:xfrm flipH="1" rot="-2700000">
            <a:off x="4273215" y="1550178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19"/>
          <p:cNvCxnSpPr/>
          <p:nvPr/>
        </p:nvCxnSpPr>
        <p:spPr>
          <a:xfrm flipH="1" rot="-2700000">
            <a:off x="4372528" y="1649491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19"/>
          <p:cNvCxnSpPr/>
          <p:nvPr/>
        </p:nvCxnSpPr>
        <p:spPr>
          <a:xfrm flipH="1" rot="-2700000">
            <a:off x="4484304" y="1761267"/>
            <a:ext cx="545604" cy="2546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19"/>
          <p:cNvSpPr/>
          <p:nvPr/>
        </p:nvSpPr>
        <p:spPr>
          <a:xfrm>
            <a:off x="6165475" y="1029300"/>
            <a:ext cx="1536300" cy="341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FF"/>
                </a:solidFill>
              </a:rPr>
              <a:t>L’écoute ne réglant que “l’angle max”, la voile peut basculer symétriquement. </a:t>
            </a:r>
            <a:r>
              <a:rPr lang="fr">
                <a:solidFill>
                  <a:srgbClr val="00FF00"/>
                </a:solidFill>
              </a:rPr>
              <a:t>Il n’y a plus qu’à ajuster la longueur de l’écoute pour obtenir le bon angle V/C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20"/>
          <p:cNvCxnSpPr>
            <a:stCxn id="268" idx="4"/>
            <a:endCxn id="268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20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2" name="Google Shape;272;p20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3" name="Google Shape;273;p20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180</a:t>
            </a:r>
            <a:endParaRPr sz="1800">
              <a:solidFill>
                <a:srgbClr val="FF00FF"/>
              </a:solidFill>
            </a:endParaRPr>
          </a:p>
        </p:txBody>
      </p:sp>
      <p:cxnSp>
        <p:nvCxnSpPr>
          <p:cNvPr id="274" name="Google Shape;274;p20"/>
          <p:cNvCxnSpPr>
            <a:stCxn id="268" idx="6"/>
            <a:endCxn id="268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0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90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276" name="Google Shape;276;p20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77" name="Google Shape;277;p20"/>
          <p:cNvCxnSpPr>
            <a:endCxn id="268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0"/>
          <p:cNvSpPr txBox="1"/>
          <p:nvPr/>
        </p:nvSpPr>
        <p:spPr>
          <a:xfrm>
            <a:off x="1742900" y="2366663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40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2111425" y="2804300"/>
            <a:ext cx="23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1396550" y="1150088"/>
            <a:ext cx="2102100" cy="75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II Pilotage du ServoMoteur</a:t>
            </a:r>
            <a:endParaRPr>
              <a:solidFill>
                <a:srgbClr val="9900FF"/>
              </a:solidFill>
            </a:endParaRPr>
          </a:p>
        </p:txBody>
      </p:sp>
      <p:cxnSp>
        <p:nvCxnSpPr>
          <p:cNvPr id="285" name="Google Shape;285;p20"/>
          <p:cNvCxnSpPr/>
          <p:nvPr/>
        </p:nvCxnSpPr>
        <p:spPr>
          <a:xfrm>
            <a:off x="4596063" y="1150100"/>
            <a:ext cx="0" cy="36312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6" name="Google Shape;286;p20"/>
          <p:cNvSpPr txBox="1"/>
          <p:nvPr/>
        </p:nvSpPr>
        <p:spPr>
          <a:xfrm>
            <a:off x="5271150" y="1282338"/>
            <a:ext cx="2678400" cy="83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00FF"/>
                </a:solidFill>
              </a:rPr>
              <a:t>On transpose symétriquement le problème de -180 ; 180 à 0 ; 180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6" name="Google Shape;296;p21"/>
          <p:cNvCxnSpPr>
            <a:stCxn id="294" idx="4"/>
            <a:endCxn id="294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21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8" name="Google Shape;298;p21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9" name="Google Shape;299;p21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180</a:t>
            </a:r>
            <a:endParaRPr sz="1800">
              <a:solidFill>
                <a:srgbClr val="FF00FF"/>
              </a:solidFill>
            </a:endParaRPr>
          </a:p>
        </p:txBody>
      </p:sp>
      <p:cxnSp>
        <p:nvCxnSpPr>
          <p:cNvPr id="300" name="Google Shape;300;p21"/>
          <p:cNvCxnSpPr>
            <a:stCxn id="294" idx="6"/>
            <a:endCxn id="294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21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90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02" name="Google Shape;302;p21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03" name="Google Shape;303;p21"/>
          <p:cNvCxnSpPr>
            <a:endCxn id="294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21"/>
          <p:cNvSpPr txBox="1"/>
          <p:nvPr/>
        </p:nvSpPr>
        <p:spPr>
          <a:xfrm>
            <a:off x="1742900" y="2366663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40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2111425" y="2804300"/>
            <a:ext cx="23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1396550" y="1150088"/>
            <a:ext cx="2102100" cy="75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II Pilotage du ServoMoteur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452975" y="1098350"/>
            <a:ext cx="2219700" cy="104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On trace des axes, en leur donnant une origine et imposant des valeurs de référence</a:t>
            </a:r>
            <a:endParaRPr>
              <a:solidFill>
                <a:srgbClr val="9900FF"/>
              </a:solidFill>
            </a:endParaRPr>
          </a:p>
        </p:txBody>
      </p:sp>
      <p:cxnSp>
        <p:nvCxnSpPr>
          <p:cNvPr id="312" name="Google Shape;312;p21"/>
          <p:cNvCxnSpPr/>
          <p:nvPr/>
        </p:nvCxnSpPr>
        <p:spPr>
          <a:xfrm rot="10800000">
            <a:off x="4592600" y="1865975"/>
            <a:ext cx="0" cy="9498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21"/>
          <p:cNvCxnSpPr/>
          <p:nvPr/>
        </p:nvCxnSpPr>
        <p:spPr>
          <a:xfrm flipH="1" rot="10800000">
            <a:off x="4599275" y="2806550"/>
            <a:ext cx="1302000" cy="213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21"/>
          <p:cNvSpPr txBox="1"/>
          <p:nvPr/>
        </p:nvSpPr>
        <p:spPr>
          <a:xfrm>
            <a:off x="6071900" y="2529075"/>
            <a:ext cx="448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9900FF"/>
                </a:solidFill>
              </a:rPr>
              <a:t>0°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111629" y="1320775"/>
            <a:ext cx="588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9900FF"/>
                </a:solidFill>
              </a:rPr>
              <a:t>9</a:t>
            </a:r>
            <a:r>
              <a:rPr lang="fr" sz="1800">
                <a:solidFill>
                  <a:srgbClr val="9900FF"/>
                </a:solidFill>
              </a:rPr>
              <a:t>0°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316" name="Google Shape;316;p21"/>
          <p:cNvSpPr/>
          <p:nvPr/>
        </p:nvSpPr>
        <p:spPr>
          <a:xfrm flipH="1">
            <a:off x="4864675" y="1707800"/>
            <a:ext cx="588300" cy="588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2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" name="Google Shape;326;p22"/>
          <p:cNvCxnSpPr>
            <a:stCxn id="324" idx="4"/>
            <a:endCxn id="324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22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8" name="Google Shape;328;p22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9" name="Google Shape;329;p22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180</a:t>
            </a:r>
            <a:endParaRPr sz="1800">
              <a:solidFill>
                <a:srgbClr val="FF00FF"/>
              </a:solidFill>
            </a:endParaRPr>
          </a:p>
        </p:txBody>
      </p:sp>
      <p:cxnSp>
        <p:nvCxnSpPr>
          <p:cNvPr id="330" name="Google Shape;330;p22"/>
          <p:cNvCxnSpPr>
            <a:stCxn id="324" idx="6"/>
            <a:endCxn id="324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22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90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32" name="Google Shape;332;p22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33" name="Google Shape;333;p22"/>
          <p:cNvCxnSpPr>
            <a:endCxn id="324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2"/>
          <p:cNvSpPr txBox="1"/>
          <p:nvPr/>
        </p:nvSpPr>
        <p:spPr>
          <a:xfrm>
            <a:off x="1742900" y="2366663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40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2111425" y="2804300"/>
            <a:ext cx="23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1396550" y="1150088"/>
            <a:ext cx="2102100" cy="75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II Pilotage du ServoMoteur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5617725" y="1091825"/>
            <a:ext cx="2219700" cy="147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Pour un Angle|V/C| &lt;= 90°, il faut border au maximum (mettre à 90°). Entre 90° et 180°, Il faut relâcher la voile (jusqu’à 0°)</a:t>
            </a:r>
            <a:endParaRPr>
              <a:solidFill>
                <a:srgbClr val="9900FF"/>
              </a:solidFill>
            </a:endParaRPr>
          </a:p>
        </p:txBody>
      </p:sp>
      <p:cxnSp>
        <p:nvCxnSpPr>
          <p:cNvPr id="342" name="Google Shape;342;p22"/>
          <p:cNvCxnSpPr/>
          <p:nvPr/>
        </p:nvCxnSpPr>
        <p:spPr>
          <a:xfrm rot="10800000">
            <a:off x="4592600" y="1865975"/>
            <a:ext cx="0" cy="9498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22"/>
          <p:cNvCxnSpPr/>
          <p:nvPr/>
        </p:nvCxnSpPr>
        <p:spPr>
          <a:xfrm flipH="1" rot="10800000">
            <a:off x="4599275" y="2806550"/>
            <a:ext cx="1302000" cy="213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" name="Google Shape;344;p22"/>
          <p:cNvSpPr txBox="1"/>
          <p:nvPr/>
        </p:nvSpPr>
        <p:spPr>
          <a:xfrm>
            <a:off x="6071900" y="2529075"/>
            <a:ext cx="448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9900FF"/>
                </a:solidFill>
              </a:rPr>
              <a:t>0°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4111629" y="1320775"/>
            <a:ext cx="588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9900FF"/>
                </a:solidFill>
              </a:rPr>
              <a:t>90°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346" name="Google Shape;346;p22"/>
          <p:cNvSpPr/>
          <p:nvPr/>
        </p:nvSpPr>
        <p:spPr>
          <a:xfrm flipH="1">
            <a:off x="4864675" y="1707800"/>
            <a:ext cx="588300" cy="588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3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6" name="Google Shape;356;p23"/>
          <p:cNvCxnSpPr>
            <a:stCxn id="354" idx="4"/>
            <a:endCxn id="354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" name="Google Shape;357;p23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8" name="Google Shape;358;p23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9" name="Google Shape;359;p23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180</a:t>
            </a:r>
            <a:endParaRPr sz="1800">
              <a:solidFill>
                <a:srgbClr val="FF00FF"/>
              </a:solidFill>
            </a:endParaRPr>
          </a:p>
        </p:txBody>
      </p:sp>
      <p:cxnSp>
        <p:nvCxnSpPr>
          <p:cNvPr id="360" name="Google Shape;360;p23"/>
          <p:cNvCxnSpPr>
            <a:stCxn id="354" idx="6"/>
            <a:endCxn id="354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23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90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62" name="Google Shape;362;p23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63" name="Google Shape;363;p23"/>
          <p:cNvCxnSpPr>
            <a:endCxn id="354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23"/>
          <p:cNvSpPr txBox="1"/>
          <p:nvPr/>
        </p:nvSpPr>
        <p:spPr>
          <a:xfrm>
            <a:off x="1742900" y="2366663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40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2111425" y="2804300"/>
            <a:ext cx="23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1396550" y="1150088"/>
            <a:ext cx="2102100" cy="75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II Pilotage du ServoMoteur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71" name="Google Shape;371;p23"/>
          <p:cNvSpPr txBox="1"/>
          <p:nvPr/>
        </p:nvSpPr>
        <p:spPr>
          <a:xfrm>
            <a:off x="1341775" y="3584925"/>
            <a:ext cx="6512100" cy="12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On a donc : </a:t>
            </a:r>
            <a:endParaRPr>
              <a:solidFill>
                <a:srgbClr val="9900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Si Angle|V/C| &lt;= 90° : Servo(90°)</a:t>
            </a:r>
            <a:endParaRPr>
              <a:solidFill>
                <a:srgbClr val="9900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Sinon Servo(Angle|V/C| - POS_BORDER) </a:t>
            </a:r>
            <a:endParaRPr>
              <a:solidFill>
                <a:srgbClr val="9900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// la fonction Servo Traduit en impulsion l’angle à adopter</a:t>
            </a:r>
            <a:endParaRPr>
              <a:solidFill>
                <a:srgbClr val="9900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//</a:t>
            </a:r>
            <a:r>
              <a:rPr lang="fr">
                <a:solidFill>
                  <a:srgbClr val="9900FF"/>
                </a:solidFill>
              </a:rPr>
              <a:t>POS_BORDER = 90°</a:t>
            </a:r>
            <a:endParaRPr>
              <a:solidFill>
                <a:srgbClr val="9900FF"/>
              </a:solidFill>
            </a:endParaRPr>
          </a:p>
        </p:txBody>
      </p:sp>
      <p:cxnSp>
        <p:nvCxnSpPr>
          <p:cNvPr id="372" name="Google Shape;372;p23"/>
          <p:cNvCxnSpPr/>
          <p:nvPr/>
        </p:nvCxnSpPr>
        <p:spPr>
          <a:xfrm rot="10800000">
            <a:off x="4592600" y="1865975"/>
            <a:ext cx="0" cy="9498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23"/>
          <p:cNvCxnSpPr/>
          <p:nvPr/>
        </p:nvCxnSpPr>
        <p:spPr>
          <a:xfrm flipH="1" rot="10800000">
            <a:off x="4599275" y="2806550"/>
            <a:ext cx="1302000" cy="213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23"/>
          <p:cNvSpPr txBox="1"/>
          <p:nvPr/>
        </p:nvSpPr>
        <p:spPr>
          <a:xfrm>
            <a:off x="6071900" y="2529075"/>
            <a:ext cx="448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9900FF"/>
                </a:solidFill>
              </a:rPr>
              <a:t>0°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4111629" y="1320775"/>
            <a:ext cx="588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9900FF"/>
                </a:solidFill>
              </a:rPr>
              <a:t>90°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376" name="Google Shape;376;p23"/>
          <p:cNvSpPr/>
          <p:nvPr/>
        </p:nvSpPr>
        <p:spPr>
          <a:xfrm flipH="1">
            <a:off x="4864675" y="1707800"/>
            <a:ext cx="588300" cy="588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4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6" name="Google Shape;386;p24"/>
          <p:cNvCxnSpPr>
            <a:stCxn id="384" idx="4"/>
            <a:endCxn id="384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24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8" name="Google Shape;388;p24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9" name="Google Shape;389;p24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180</a:t>
            </a:r>
            <a:endParaRPr sz="1800">
              <a:solidFill>
                <a:srgbClr val="FF00FF"/>
              </a:solidFill>
            </a:endParaRPr>
          </a:p>
        </p:txBody>
      </p:sp>
      <p:cxnSp>
        <p:nvCxnSpPr>
          <p:cNvPr id="390" name="Google Shape;390;p24"/>
          <p:cNvCxnSpPr>
            <a:stCxn id="384" idx="6"/>
            <a:endCxn id="384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24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90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92" name="Google Shape;392;p24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93" name="Google Shape;393;p24"/>
          <p:cNvCxnSpPr>
            <a:endCxn id="384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24"/>
          <p:cNvSpPr txBox="1"/>
          <p:nvPr/>
        </p:nvSpPr>
        <p:spPr>
          <a:xfrm>
            <a:off x="1742900" y="2366663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FF00"/>
                </a:solidFill>
              </a:rPr>
              <a:t>Angle de pilotage de la voile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FF"/>
                </a:solidFill>
              </a:rPr>
              <a:t>40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96" name="Google Shape;396;p24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7" name="Google Shape;397;p24"/>
          <p:cNvSpPr txBox="1"/>
          <p:nvPr/>
        </p:nvSpPr>
        <p:spPr>
          <a:xfrm>
            <a:off x="2111425" y="2804300"/>
            <a:ext cx="23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1341773" y="317650"/>
            <a:ext cx="1720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Explications Vent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1396550" y="1150088"/>
            <a:ext cx="2102100" cy="75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II Pilotage du ServoMoteur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1341775" y="3584925"/>
            <a:ext cx="6512100" cy="147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Servo(AngleServo) : </a:t>
            </a:r>
            <a:endParaRPr>
              <a:solidFill>
                <a:srgbClr val="9900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Impulsion = (IMP_BORDER - IMP_CHOQUER) * (AngleServo/AngleMAX) + T_MIN</a:t>
            </a:r>
            <a:endParaRPr>
              <a:solidFill>
                <a:srgbClr val="9900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//</a:t>
            </a:r>
            <a:r>
              <a:rPr lang="fr">
                <a:solidFill>
                  <a:srgbClr val="9900FF"/>
                </a:solidFill>
              </a:rPr>
              <a:t>IMP_CHOQUER = T_MIN</a:t>
            </a:r>
            <a:endParaRPr>
              <a:solidFill>
                <a:srgbClr val="9900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00FF"/>
                </a:solidFill>
              </a:rPr>
              <a:t>//(AngleServo/AngleMAX) rapport. Ajuste le temps à ajouter pour la commande</a:t>
            </a:r>
            <a:endParaRPr>
              <a:solidFill>
                <a:srgbClr val="9900FF"/>
              </a:solidFill>
            </a:endParaRPr>
          </a:p>
        </p:txBody>
      </p:sp>
      <p:cxnSp>
        <p:nvCxnSpPr>
          <p:cNvPr id="402" name="Google Shape;402;p24"/>
          <p:cNvCxnSpPr/>
          <p:nvPr/>
        </p:nvCxnSpPr>
        <p:spPr>
          <a:xfrm rot="10800000">
            <a:off x="4592600" y="1865975"/>
            <a:ext cx="0" cy="9498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24"/>
          <p:cNvCxnSpPr/>
          <p:nvPr/>
        </p:nvCxnSpPr>
        <p:spPr>
          <a:xfrm flipH="1" rot="10800000">
            <a:off x="4599275" y="2806550"/>
            <a:ext cx="1302000" cy="213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24"/>
          <p:cNvSpPr txBox="1"/>
          <p:nvPr/>
        </p:nvSpPr>
        <p:spPr>
          <a:xfrm>
            <a:off x="6071900" y="2529075"/>
            <a:ext cx="448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9900FF"/>
                </a:solidFill>
              </a:rPr>
              <a:t>0°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4111629" y="1320775"/>
            <a:ext cx="588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9900FF"/>
                </a:solidFill>
              </a:rPr>
              <a:t>90°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406" name="Google Shape;406;p24"/>
          <p:cNvSpPr/>
          <p:nvPr/>
        </p:nvSpPr>
        <p:spPr>
          <a:xfrm flipH="1">
            <a:off x="4864675" y="1707800"/>
            <a:ext cx="588300" cy="588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5"/>
          <p:cNvSpPr/>
          <p:nvPr/>
        </p:nvSpPr>
        <p:spPr>
          <a:xfrm>
            <a:off x="4381733" y="2239598"/>
            <a:ext cx="1685400" cy="696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Système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FF"/>
                </a:solidFill>
              </a:rPr>
              <a:t>Grand Voile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1425470" y="1250000"/>
            <a:ext cx="1901767" cy="696864"/>
          </a:xfrm>
          <a:prstGeom prst="flowChartDisplay">
            <a:avLst/>
          </a:prstGeom>
          <a:solidFill>
            <a:srgbClr val="D9EAD3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5"/>
          <p:cNvSpPr/>
          <p:nvPr/>
        </p:nvSpPr>
        <p:spPr>
          <a:xfrm>
            <a:off x="1425485" y="2781332"/>
            <a:ext cx="1901767" cy="696864"/>
          </a:xfrm>
          <a:prstGeom prst="flowChartDisplay">
            <a:avLst/>
          </a:prstGeom>
          <a:solidFill>
            <a:srgbClr val="D9EAD3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5"/>
          <p:cNvSpPr txBox="1"/>
          <p:nvPr/>
        </p:nvSpPr>
        <p:spPr>
          <a:xfrm>
            <a:off x="1514227" y="1250000"/>
            <a:ext cx="17241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274E13"/>
                </a:solidFill>
              </a:rPr>
              <a:t>Direction</a:t>
            </a:r>
            <a:endParaRPr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274E13"/>
                </a:solidFill>
              </a:rPr>
              <a:t>Vent apparent</a:t>
            </a:r>
            <a:endParaRPr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FF"/>
                </a:solidFill>
              </a:rPr>
              <a:t>(Girouette - Gui et Kad)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416" name="Google Shape;416;p25"/>
          <p:cNvSpPr txBox="1"/>
          <p:nvPr/>
        </p:nvSpPr>
        <p:spPr>
          <a:xfrm>
            <a:off x="1514237" y="2847325"/>
            <a:ext cx="17241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274E13"/>
                </a:solidFill>
              </a:rPr>
              <a:t>Cap actuel</a:t>
            </a:r>
            <a:endParaRPr sz="10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FF"/>
                </a:solidFill>
              </a:rPr>
              <a:t>(</a:t>
            </a:r>
            <a:r>
              <a:rPr lang="fr" sz="1000">
                <a:solidFill>
                  <a:srgbClr val="0000FF"/>
                </a:solidFill>
              </a:rPr>
              <a:t>Capteur - Max et Alex</a:t>
            </a:r>
            <a:r>
              <a:rPr lang="fr" sz="1000">
                <a:solidFill>
                  <a:srgbClr val="0000FF"/>
                </a:solidFill>
              </a:rPr>
              <a:t>)</a:t>
            </a:r>
            <a:endParaRPr sz="1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17" name="Google Shape;417;p25"/>
          <p:cNvCxnSpPr/>
          <p:nvPr/>
        </p:nvCxnSpPr>
        <p:spPr>
          <a:xfrm>
            <a:off x="3327233" y="1608898"/>
            <a:ext cx="10920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25"/>
          <p:cNvCxnSpPr>
            <a:endCxn id="412" idx="1"/>
          </p:cNvCxnSpPr>
          <p:nvPr/>
        </p:nvCxnSpPr>
        <p:spPr>
          <a:xfrm flipH="1" rot="10800000">
            <a:off x="3327233" y="2588048"/>
            <a:ext cx="1054500" cy="5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25"/>
          <p:cNvCxnSpPr>
            <a:stCxn id="412" idx="3"/>
          </p:cNvCxnSpPr>
          <p:nvPr/>
        </p:nvCxnSpPr>
        <p:spPr>
          <a:xfrm>
            <a:off x="6067133" y="2588048"/>
            <a:ext cx="5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p25"/>
          <p:cNvSpPr txBox="1"/>
          <p:nvPr/>
        </p:nvSpPr>
        <p:spPr>
          <a:xfrm>
            <a:off x="6435148" y="2013550"/>
            <a:ext cx="14361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741B47"/>
                </a:solidFill>
              </a:rPr>
              <a:t>Ouverture</a:t>
            </a:r>
            <a:endParaRPr sz="18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741B47"/>
                </a:solidFill>
              </a:rPr>
              <a:t>Grand voile</a:t>
            </a:r>
            <a:endParaRPr sz="1800">
              <a:solidFill>
                <a:srgbClr val="741B47"/>
              </a:solidFill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"/>
          <p:cNvSpPr/>
          <p:nvPr/>
        </p:nvSpPr>
        <p:spPr>
          <a:xfrm>
            <a:off x="6385050" y="1352425"/>
            <a:ext cx="1536300" cy="2875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7376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6"/>
          <p:cNvSpPr/>
          <p:nvPr/>
        </p:nvSpPr>
        <p:spPr>
          <a:xfrm>
            <a:off x="4381733" y="2239598"/>
            <a:ext cx="1685400" cy="696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Système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FF"/>
                </a:solidFill>
              </a:rPr>
              <a:t>Grand Voile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1425470" y="1250000"/>
            <a:ext cx="1901767" cy="696864"/>
          </a:xfrm>
          <a:prstGeom prst="flowChartDisplay">
            <a:avLst/>
          </a:prstGeom>
          <a:solidFill>
            <a:srgbClr val="D9EAD3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6"/>
          <p:cNvSpPr/>
          <p:nvPr/>
        </p:nvSpPr>
        <p:spPr>
          <a:xfrm>
            <a:off x="1425485" y="2781332"/>
            <a:ext cx="1901767" cy="696864"/>
          </a:xfrm>
          <a:prstGeom prst="flowChartDisplay">
            <a:avLst/>
          </a:prstGeom>
          <a:solidFill>
            <a:srgbClr val="D9EAD3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1514227" y="1250000"/>
            <a:ext cx="17241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274E13"/>
                </a:solidFill>
              </a:rPr>
              <a:t>Direction</a:t>
            </a:r>
            <a:endParaRPr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274E13"/>
                </a:solidFill>
              </a:rPr>
              <a:t>Vent apparent</a:t>
            </a:r>
            <a:endParaRPr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FF"/>
                </a:solidFill>
              </a:rPr>
              <a:t>(Girouette - Gui et Kad)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432" name="Google Shape;432;p26"/>
          <p:cNvSpPr txBox="1"/>
          <p:nvPr/>
        </p:nvSpPr>
        <p:spPr>
          <a:xfrm>
            <a:off x="1514237" y="2847325"/>
            <a:ext cx="17241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274E13"/>
                </a:solidFill>
              </a:rPr>
              <a:t>Cap actuel</a:t>
            </a:r>
            <a:endParaRPr sz="10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274E13"/>
                </a:solidFill>
              </a:rPr>
              <a:t>[vitesse navire]</a:t>
            </a:r>
            <a:endParaRPr sz="10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FF"/>
                </a:solidFill>
              </a:rPr>
              <a:t>(Capteur - Max et Alex)</a:t>
            </a:r>
            <a:endParaRPr sz="1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33" name="Google Shape;433;p26"/>
          <p:cNvCxnSpPr/>
          <p:nvPr/>
        </p:nvCxnSpPr>
        <p:spPr>
          <a:xfrm>
            <a:off x="3327233" y="1608898"/>
            <a:ext cx="10920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26"/>
          <p:cNvCxnSpPr>
            <a:endCxn id="428" idx="1"/>
          </p:cNvCxnSpPr>
          <p:nvPr/>
        </p:nvCxnSpPr>
        <p:spPr>
          <a:xfrm flipH="1" rot="10800000">
            <a:off x="3327233" y="2588048"/>
            <a:ext cx="1054500" cy="5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26"/>
          <p:cNvCxnSpPr>
            <a:stCxn id="428" idx="3"/>
          </p:cNvCxnSpPr>
          <p:nvPr/>
        </p:nvCxnSpPr>
        <p:spPr>
          <a:xfrm>
            <a:off x="6067133" y="2588048"/>
            <a:ext cx="5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26"/>
          <p:cNvSpPr txBox="1"/>
          <p:nvPr/>
        </p:nvSpPr>
        <p:spPr>
          <a:xfrm>
            <a:off x="6435148" y="2013550"/>
            <a:ext cx="14361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741B47"/>
                </a:solidFill>
              </a:rPr>
              <a:t>Ouverture</a:t>
            </a:r>
            <a:endParaRPr sz="18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741B47"/>
                </a:solidFill>
              </a:rPr>
              <a:t>Grand voile</a:t>
            </a:r>
            <a:endParaRPr sz="1800">
              <a:solidFill>
                <a:srgbClr val="741B47"/>
              </a:solidFill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6"/>
          <p:cNvSpPr txBox="1"/>
          <p:nvPr/>
        </p:nvSpPr>
        <p:spPr>
          <a:xfrm>
            <a:off x="6645025" y="1426975"/>
            <a:ext cx="10545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73763"/>
                </a:solidFill>
              </a:rPr>
              <a:t>SE1</a:t>
            </a:r>
            <a:endParaRPr sz="18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7"/>
          <p:cNvSpPr/>
          <p:nvPr/>
        </p:nvSpPr>
        <p:spPr>
          <a:xfrm>
            <a:off x="1416325" y="1118150"/>
            <a:ext cx="6197700" cy="38016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7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7"/>
          <p:cNvSpPr/>
          <p:nvPr/>
        </p:nvSpPr>
        <p:spPr>
          <a:xfrm>
            <a:off x="1772758" y="1316423"/>
            <a:ext cx="1685400" cy="6969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Ouverture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FF"/>
                </a:solidFill>
              </a:rPr>
              <a:t>Grand Voile</a:t>
            </a:r>
            <a:endParaRPr sz="1800">
              <a:solidFill>
                <a:srgbClr val="0000FF"/>
              </a:solidFill>
            </a:endParaRPr>
          </a:p>
        </p:txBody>
      </p:sp>
      <p:cxnSp>
        <p:nvCxnSpPr>
          <p:cNvPr id="447" name="Google Shape;447;p27"/>
          <p:cNvCxnSpPr/>
          <p:nvPr/>
        </p:nvCxnSpPr>
        <p:spPr>
          <a:xfrm>
            <a:off x="1245950" y="2353450"/>
            <a:ext cx="734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27"/>
          <p:cNvSpPr txBox="1"/>
          <p:nvPr/>
        </p:nvSpPr>
        <p:spPr>
          <a:xfrm>
            <a:off x="1970075" y="2204350"/>
            <a:ext cx="1536300" cy="1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Cap actuel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inutile si le vent est donné par rapport à la proue du navire, nécessaire si le vent est donné par rapport au nord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449" name="Google Shape;449;p27"/>
          <p:cNvCxnSpPr/>
          <p:nvPr/>
        </p:nvCxnSpPr>
        <p:spPr>
          <a:xfrm>
            <a:off x="1267250" y="3429000"/>
            <a:ext cx="7239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0" name="Google Shape;450;p27"/>
          <p:cNvSpPr txBox="1"/>
          <p:nvPr/>
        </p:nvSpPr>
        <p:spPr>
          <a:xfrm>
            <a:off x="2097875" y="3322500"/>
            <a:ext cx="23853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direction du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vent apparent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4589750" y="1405675"/>
            <a:ext cx="734700" cy="734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2" name="Google Shape;452;p27"/>
          <p:cNvCxnSpPr>
            <a:stCxn id="451" idx="0"/>
          </p:cNvCxnSpPr>
          <p:nvPr/>
        </p:nvCxnSpPr>
        <p:spPr>
          <a:xfrm rot="10800000">
            <a:off x="4951700" y="1150075"/>
            <a:ext cx="5400" cy="25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3" name="Google Shape;453;p27"/>
          <p:cNvSpPr txBox="1"/>
          <p:nvPr/>
        </p:nvSpPr>
        <p:spPr>
          <a:xfrm>
            <a:off x="4957100" y="1080925"/>
            <a:ext cx="415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00"/>
                </a:solidFill>
              </a:rPr>
              <a:t>N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454" name="Google Shape;454;p27"/>
          <p:cNvCxnSpPr>
            <a:stCxn id="451" idx="1"/>
          </p:cNvCxnSpPr>
          <p:nvPr/>
        </p:nvCxnSpPr>
        <p:spPr>
          <a:xfrm>
            <a:off x="4697344" y="1513269"/>
            <a:ext cx="254400" cy="23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27"/>
          <p:cNvSpPr txBox="1"/>
          <p:nvPr/>
        </p:nvSpPr>
        <p:spPr>
          <a:xfrm>
            <a:off x="4217025" y="1458925"/>
            <a:ext cx="354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FF"/>
                </a:solidFill>
              </a:rPr>
              <a:t>V</a:t>
            </a:r>
            <a:endParaRPr sz="1800">
              <a:solidFill>
                <a:srgbClr val="0000FF"/>
              </a:solidFill>
            </a:endParaRPr>
          </a:p>
        </p:txBody>
      </p:sp>
      <p:cxnSp>
        <p:nvCxnSpPr>
          <p:cNvPr id="456" name="Google Shape;456;p27"/>
          <p:cNvCxnSpPr>
            <a:endCxn id="451" idx="6"/>
          </p:cNvCxnSpPr>
          <p:nvPr/>
        </p:nvCxnSpPr>
        <p:spPr>
          <a:xfrm>
            <a:off x="4994450" y="1757125"/>
            <a:ext cx="330000" cy="15900"/>
          </a:xfrm>
          <a:prstGeom prst="straightConnector1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7" name="Google Shape;457;p27"/>
          <p:cNvSpPr txBox="1"/>
          <p:nvPr/>
        </p:nvSpPr>
        <p:spPr>
          <a:xfrm>
            <a:off x="5356475" y="1629300"/>
            <a:ext cx="354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73763"/>
                </a:solidFill>
              </a:rPr>
              <a:t>C</a:t>
            </a:r>
            <a:endParaRPr sz="1800">
              <a:solidFill>
                <a:srgbClr val="073763"/>
              </a:solidFill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3641975" y="2257600"/>
            <a:ext cx="1730400" cy="10293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V/C &lt; 90 °?</a:t>
            </a:r>
            <a:endParaRPr/>
          </a:p>
        </p:txBody>
      </p:sp>
      <p:sp>
        <p:nvSpPr>
          <p:cNvPr id="459" name="Google Shape;459;p27"/>
          <p:cNvSpPr/>
          <p:nvPr/>
        </p:nvSpPr>
        <p:spPr>
          <a:xfrm>
            <a:off x="6112550" y="2571750"/>
            <a:ext cx="1730400" cy="7629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</a:t>
            </a:r>
            <a:r>
              <a:rPr lang="fr"/>
              <a:t>order au</a:t>
            </a:r>
            <a:r>
              <a:rPr lang="fr"/>
              <a:t> max</a:t>
            </a:r>
            <a:endParaRPr/>
          </a:p>
        </p:txBody>
      </p:sp>
      <p:sp>
        <p:nvSpPr>
          <p:cNvPr id="460" name="Google Shape;460;p27"/>
          <p:cNvSpPr txBox="1"/>
          <p:nvPr/>
        </p:nvSpPr>
        <p:spPr>
          <a:xfrm>
            <a:off x="5507975" y="2364250"/>
            <a:ext cx="639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Oui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61" name="Google Shape;461;p27"/>
          <p:cNvCxnSpPr>
            <a:endCxn id="459" idx="1"/>
          </p:cNvCxnSpPr>
          <p:nvPr/>
        </p:nvCxnSpPr>
        <p:spPr>
          <a:xfrm>
            <a:off x="5372450" y="2892900"/>
            <a:ext cx="740100" cy="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2" name="Google Shape;462;p27"/>
          <p:cNvSpPr/>
          <p:nvPr/>
        </p:nvSpPr>
        <p:spPr>
          <a:xfrm>
            <a:off x="3844325" y="4153125"/>
            <a:ext cx="2302800" cy="8733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Aviser un angle vent/voile de  90°</a:t>
            </a:r>
            <a:endParaRPr/>
          </a:p>
        </p:txBody>
      </p:sp>
      <p:cxnSp>
        <p:nvCxnSpPr>
          <p:cNvPr id="463" name="Google Shape;463;p27"/>
          <p:cNvCxnSpPr>
            <a:stCxn id="458" idx="2"/>
            <a:endCxn id="462" idx="0"/>
          </p:cNvCxnSpPr>
          <p:nvPr/>
        </p:nvCxnSpPr>
        <p:spPr>
          <a:xfrm>
            <a:off x="4507175" y="3286900"/>
            <a:ext cx="488700" cy="86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4" name="Google Shape;464;p27"/>
          <p:cNvSpPr txBox="1"/>
          <p:nvPr/>
        </p:nvSpPr>
        <p:spPr>
          <a:xfrm>
            <a:off x="4930525" y="3492900"/>
            <a:ext cx="639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Non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65" name="Google Shape;465;p27"/>
          <p:cNvCxnSpPr>
            <a:endCxn id="459" idx="0"/>
          </p:cNvCxnSpPr>
          <p:nvPr/>
        </p:nvCxnSpPr>
        <p:spPr>
          <a:xfrm>
            <a:off x="6975050" y="851850"/>
            <a:ext cx="2700" cy="171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6" name="Google Shape;466;p27"/>
          <p:cNvSpPr/>
          <p:nvPr/>
        </p:nvSpPr>
        <p:spPr>
          <a:xfrm>
            <a:off x="5894150" y="729500"/>
            <a:ext cx="1948800" cy="87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Régulation G</a:t>
            </a:r>
            <a:r>
              <a:rPr lang="fr"/>
              <a:t>îte</a:t>
            </a:r>
            <a:endParaRPr/>
          </a:p>
        </p:txBody>
      </p:sp>
      <p:sp>
        <p:nvSpPr>
          <p:cNvPr id="467" name="Google Shape;467;p27"/>
          <p:cNvSpPr/>
          <p:nvPr/>
        </p:nvSpPr>
        <p:spPr>
          <a:xfrm>
            <a:off x="5782388" y="345100"/>
            <a:ext cx="2172300" cy="3482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6432025" y="287525"/>
            <a:ext cx="99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FF00"/>
                </a:solidFill>
              </a:rPr>
              <a:t>SE3</a:t>
            </a:r>
            <a:endParaRPr sz="1800">
              <a:solidFill>
                <a:srgbClr val="00FF00"/>
              </a:solidFill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3506375" y="3771475"/>
            <a:ext cx="2820600" cy="123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7"/>
          <p:cNvSpPr txBox="1"/>
          <p:nvPr/>
        </p:nvSpPr>
        <p:spPr>
          <a:xfrm>
            <a:off x="3972100" y="3695350"/>
            <a:ext cx="819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SE4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3391688" y="1870213"/>
            <a:ext cx="2172300" cy="1525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7"/>
          <p:cNvSpPr txBox="1"/>
          <p:nvPr/>
        </p:nvSpPr>
        <p:spPr>
          <a:xfrm>
            <a:off x="3638113" y="1889338"/>
            <a:ext cx="819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FF00"/>
                </a:solidFill>
              </a:rPr>
              <a:t>SE2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1319325" y="110200"/>
            <a:ext cx="1536300" cy="866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7376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73763"/>
                </a:solidFill>
              </a:rPr>
              <a:t>SE1</a:t>
            </a:r>
            <a:endParaRPr sz="1800">
              <a:solidFill>
                <a:srgbClr val="073763"/>
              </a:solidFill>
            </a:endParaRPr>
          </a:p>
        </p:txBody>
      </p:sp>
      <p:cxnSp>
        <p:nvCxnSpPr>
          <p:cNvPr id="474" name="Google Shape;474;p27"/>
          <p:cNvCxnSpPr>
            <a:endCxn id="471" idx="1"/>
          </p:cNvCxnSpPr>
          <p:nvPr/>
        </p:nvCxnSpPr>
        <p:spPr>
          <a:xfrm>
            <a:off x="3181388" y="2483263"/>
            <a:ext cx="2103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27"/>
          <p:cNvCxnSpPr>
            <a:endCxn id="471" idx="1"/>
          </p:cNvCxnSpPr>
          <p:nvPr/>
        </p:nvCxnSpPr>
        <p:spPr>
          <a:xfrm flipH="1" rot="10800000">
            <a:off x="2702288" y="2632963"/>
            <a:ext cx="689400" cy="7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27"/>
          <p:cNvCxnSpPr>
            <a:stCxn id="477" idx="3"/>
            <a:endCxn id="469" idx="1"/>
          </p:cNvCxnSpPr>
          <p:nvPr/>
        </p:nvCxnSpPr>
        <p:spPr>
          <a:xfrm flipH="1" rot="10800000">
            <a:off x="3268125" y="4390100"/>
            <a:ext cx="238200" cy="24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27"/>
          <p:cNvSpPr/>
          <p:nvPr/>
        </p:nvSpPr>
        <p:spPr>
          <a:xfrm>
            <a:off x="1319325" y="4440650"/>
            <a:ext cx="1948800" cy="39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Régulation Gîte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3" name="Google Shape;4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8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8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8"/>
          <p:cNvSpPr txBox="1"/>
          <p:nvPr/>
        </p:nvSpPr>
        <p:spPr>
          <a:xfrm>
            <a:off x="1657363" y="395788"/>
            <a:ext cx="819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FF00"/>
                </a:solidFill>
              </a:rPr>
              <a:t>SE2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1522700" y="1299175"/>
            <a:ext cx="1870800" cy="102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|V/C| &lt; 90 °?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borde au max</a:t>
            </a: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3866888" y="2475700"/>
            <a:ext cx="1451400" cy="14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3329400" y="1374950"/>
            <a:ext cx="4524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 : Transposer le problème de 360 ° à 180 °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90" name="Google Shape;490;p28"/>
          <p:cNvCxnSpPr>
            <a:stCxn id="488" idx="4"/>
            <a:endCxn id="488" idx="0"/>
          </p:cNvCxnSpPr>
          <p:nvPr/>
        </p:nvCxnSpPr>
        <p:spPr>
          <a:xfrm rot="10800000">
            <a:off x="4592588" y="247570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1" name="Google Shape;491;p28"/>
          <p:cNvSpPr txBox="1"/>
          <p:nvPr/>
        </p:nvSpPr>
        <p:spPr>
          <a:xfrm>
            <a:off x="4427125" y="210065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2" name="Google Shape;492;p28"/>
          <p:cNvSpPr txBox="1"/>
          <p:nvPr/>
        </p:nvSpPr>
        <p:spPr>
          <a:xfrm>
            <a:off x="4609825" y="3457450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3934275" y="3457450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94" name="Google Shape;494;p28"/>
          <p:cNvCxnSpPr>
            <a:stCxn id="488" idx="6"/>
            <a:endCxn id="488" idx="2"/>
          </p:cNvCxnSpPr>
          <p:nvPr/>
        </p:nvCxnSpPr>
        <p:spPr>
          <a:xfrm rot="10800000">
            <a:off x="3866888" y="320140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28"/>
          <p:cNvSpPr txBox="1"/>
          <p:nvPr/>
        </p:nvSpPr>
        <p:spPr>
          <a:xfrm>
            <a:off x="3169325" y="29345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6" name="Google Shape;496;p28"/>
          <p:cNvSpPr txBox="1"/>
          <p:nvPr/>
        </p:nvSpPr>
        <p:spPr>
          <a:xfrm>
            <a:off x="5271150" y="294535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</a:t>
            </a: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97" name="Google Shape;497;p28"/>
          <p:cNvCxnSpPr>
            <a:stCxn id="488" idx="1"/>
          </p:cNvCxnSpPr>
          <p:nvPr/>
        </p:nvCxnSpPr>
        <p:spPr>
          <a:xfrm>
            <a:off x="4079440" y="2688253"/>
            <a:ext cx="530400" cy="53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28"/>
          <p:cNvCxnSpPr>
            <a:stCxn id="488" idx="7"/>
          </p:cNvCxnSpPr>
          <p:nvPr/>
        </p:nvCxnSpPr>
        <p:spPr>
          <a:xfrm flipH="1">
            <a:off x="4609835" y="2688253"/>
            <a:ext cx="495900" cy="52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28"/>
          <p:cNvCxnSpPr>
            <a:endCxn id="488" idx="7"/>
          </p:cNvCxnSpPr>
          <p:nvPr/>
        </p:nvCxnSpPr>
        <p:spPr>
          <a:xfrm flipH="1" rot="10800000">
            <a:off x="4065635" y="2688253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28"/>
          <p:cNvSpPr/>
          <p:nvPr/>
        </p:nvSpPr>
        <p:spPr>
          <a:xfrm>
            <a:off x="1515300" y="3820275"/>
            <a:ext cx="2881200" cy="9705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 val &gt; 180 = 360 - Angle</a:t>
            </a:r>
            <a:endParaRPr/>
          </a:p>
        </p:txBody>
      </p:sp>
      <p:sp>
        <p:nvSpPr>
          <p:cNvPr id="501" name="Google Shape;501;p28"/>
          <p:cNvSpPr txBox="1"/>
          <p:nvPr/>
        </p:nvSpPr>
        <p:spPr>
          <a:xfrm>
            <a:off x="5399600" y="53350"/>
            <a:ext cx="24117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Hypothèses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Direction VA et boussole donnée sur 0, 360.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Angle V/C sur 0,360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4768525" y="327675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00FF"/>
                </a:solidFill>
              </a:rPr>
              <a:t>Angle de pilotage de la voile</a:t>
            </a:r>
            <a:endParaRPr sz="12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8" name="Google Shape;5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9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9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9"/>
          <p:cNvSpPr txBox="1"/>
          <p:nvPr/>
        </p:nvSpPr>
        <p:spPr>
          <a:xfrm>
            <a:off x="1657363" y="395788"/>
            <a:ext cx="819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FF00"/>
                </a:solidFill>
              </a:rPr>
              <a:t>SE2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512" name="Google Shape;512;p29"/>
          <p:cNvSpPr/>
          <p:nvPr/>
        </p:nvSpPr>
        <p:spPr>
          <a:xfrm>
            <a:off x="1522700" y="1299175"/>
            <a:ext cx="1892100" cy="102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|V/C| &lt; 90 °?</a:t>
            </a:r>
            <a:endParaRPr/>
          </a:p>
        </p:txBody>
      </p:sp>
      <p:sp>
        <p:nvSpPr>
          <p:cNvPr id="513" name="Google Shape;513;p29"/>
          <p:cNvSpPr/>
          <p:nvPr/>
        </p:nvSpPr>
        <p:spPr>
          <a:xfrm>
            <a:off x="3866888" y="2475700"/>
            <a:ext cx="1451400" cy="14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9"/>
          <p:cNvSpPr txBox="1"/>
          <p:nvPr/>
        </p:nvSpPr>
        <p:spPr>
          <a:xfrm>
            <a:off x="3329400" y="1374950"/>
            <a:ext cx="4524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 : Transposer le problème de 360 ° à 180 °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15" name="Google Shape;515;p29"/>
          <p:cNvCxnSpPr>
            <a:stCxn id="513" idx="4"/>
            <a:endCxn id="513" idx="0"/>
          </p:cNvCxnSpPr>
          <p:nvPr/>
        </p:nvCxnSpPr>
        <p:spPr>
          <a:xfrm rot="10800000">
            <a:off x="4592588" y="247570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6" name="Google Shape;516;p29"/>
          <p:cNvSpPr txBox="1"/>
          <p:nvPr/>
        </p:nvSpPr>
        <p:spPr>
          <a:xfrm>
            <a:off x="4427125" y="210065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7" name="Google Shape;517;p29"/>
          <p:cNvSpPr txBox="1"/>
          <p:nvPr/>
        </p:nvSpPr>
        <p:spPr>
          <a:xfrm>
            <a:off x="4677200" y="35661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</a:t>
            </a: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3866900" y="3565900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19" name="Google Shape;519;p29"/>
          <p:cNvCxnSpPr>
            <a:stCxn id="513" idx="6"/>
            <a:endCxn id="513" idx="2"/>
          </p:cNvCxnSpPr>
          <p:nvPr/>
        </p:nvCxnSpPr>
        <p:spPr>
          <a:xfrm rot="10800000">
            <a:off x="3866888" y="320140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29"/>
          <p:cNvSpPr txBox="1"/>
          <p:nvPr/>
        </p:nvSpPr>
        <p:spPr>
          <a:xfrm>
            <a:off x="3169325" y="29345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5271150" y="294535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</a:t>
            </a: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22" name="Google Shape;522;p29"/>
          <p:cNvCxnSpPr>
            <a:stCxn id="513" idx="1"/>
          </p:cNvCxnSpPr>
          <p:nvPr/>
        </p:nvCxnSpPr>
        <p:spPr>
          <a:xfrm>
            <a:off x="4079440" y="2688253"/>
            <a:ext cx="530400" cy="53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29"/>
          <p:cNvCxnSpPr>
            <a:stCxn id="513" idx="7"/>
          </p:cNvCxnSpPr>
          <p:nvPr/>
        </p:nvCxnSpPr>
        <p:spPr>
          <a:xfrm flipH="1">
            <a:off x="4609835" y="2688253"/>
            <a:ext cx="495900" cy="52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29"/>
          <p:cNvCxnSpPr>
            <a:endCxn id="513" idx="7"/>
          </p:cNvCxnSpPr>
          <p:nvPr/>
        </p:nvCxnSpPr>
        <p:spPr>
          <a:xfrm flipH="1" rot="10800000">
            <a:off x="4065635" y="2688253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29"/>
          <p:cNvSpPr/>
          <p:nvPr/>
        </p:nvSpPr>
        <p:spPr>
          <a:xfrm>
            <a:off x="1384475" y="3810150"/>
            <a:ext cx="2881200" cy="9705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 angle &gt; 40 ° -&gt; on avance plus : Border au max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0"/>
          <p:cNvSpPr/>
          <p:nvPr/>
        </p:nvSpPr>
        <p:spPr>
          <a:xfrm>
            <a:off x="1341775" y="1150100"/>
            <a:ext cx="6293700" cy="3631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1" name="Google Shape;5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0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1657363" y="395788"/>
            <a:ext cx="819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FF00"/>
                </a:solidFill>
              </a:rPr>
              <a:t>SE3</a:t>
            </a:r>
            <a:endParaRPr sz="1800">
              <a:solidFill>
                <a:srgbClr val="00FF00"/>
              </a:solidFill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2134575" y="1576075"/>
            <a:ext cx="1912200" cy="2460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0"/>
          <p:cNvSpPr/>
          <p:nvPr/>
        </p:nvSpPr>
        <p:spPr>
          <a:xfrm>
            <a:off x="1522700" y="1299175"/>
            <a:ext cx="1730400" cy="1029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</a:t>
            </a:r>
            <a:r>
              <a:rPr lang="fr"/>
              <a:t>îte bateau &gt; Gîte_max</a:t>
            </a:r>
            <a:r>
              <a:rPr lang="fr"/>
              <a:t>?</a:t>
            </a:r>
            <a:endParaRPr/>
          </a:p>
        </p:txBody>
      </p:sp>
      <p:sp>
        <p:nvSpPr>
          <p:cNvPr id="537" name="Google Shape;537;p30"/>
          <p:cNvSpPr/>
          <p:nvPr/>
        </p:nvSpPr>
        <p:spPr>
          <a:xfrm>
            <a:off x="2134575" y="2837950"/>
            <a:ext cx="1536300" cy="905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"/>
          <p:cNvSpPr/>
          <p:nvPr/>
        </p:nvSpPr>
        <p:spPr>
          <a:xfrm>
            <a:off x="1522700" y="2388700"/>
            <a:ext cx="1730400" cy="1029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Réduire la voilure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jusqu’à G</a:t>
            </a:r>
            <a:r>
              <a:rPr lang="fr"/>
              <a:t>îte_max_marge</a:t>
            </a:r>
            <a:r>
              <a:rPr lang="fr"/>
              <a:t> </a:t>
            </a: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3803850" y="2899975"/>
            <a:ext cx="3929400" cy="905100"/>
          </a:xfrm>
          <a:prstGeom prst="horizontalScroll">
            <a:avLst>
              <a:gd fmla="val 12500" name="adj"/>
            </a:avLst>
          </a:prstGeom>
          <a:solidFill>
            <a:srgbClr val="EFEFE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V/C = Cap Actuel - direction du vent réel</a:t>
            </a:r>
            <a:endParaRPr/>
          </a:p>
        </p:txBody>
      </p:sp>
      <p:cxnSp>
        <p:nvCxnSpPr>
          <p:cNvPr id="540" name="Google Shape;540;p30"/>
          <p:cNvCxnSpPr/>
          <p:nvPr/>
        </p:nvCxnSpPr>
        <p:spPr>
          <a:xfrm flipH="1" rot="10800000">
            <a:off x="3673925" y="2917925"/>
            <a:ext cx="21300" cy="734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0"/>
          <p:cNvCxnSpPr/>
          <p:nvPr/>
        </p:nvCxnSpPr>
        <p:spPr>
          <a:xfrm rot="10800000">
            <a:off x="4046775" y="1874350"/>
            <a:ext cx="0" cy="372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1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7" name="Google Shape;5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1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1"/>
          <p:cNvSpPr/>
          <p:nvPr/>
        </p:nvSpPr>
        <p:spPr>
          <a:xfrm>
            <a:off x="1522700" y="1299175"/>
            <a:ext cx="1870800" cy="1029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|V/C|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Max : 180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Min : 90</a:t>
            </a:r>
            <a:endParaRPr/>
          </a:p>
        </p:txBody>
      </p:sp>
      <p:sp>
        <p:nvSpPr>
          <p:cNvPr id="550" name="Google Shape;550;p31"/>
          <p:cNvSpPr/>
          <p:nvPr/>
        </p:nvSpPr>
        <p:spPr>
          <a:xfrm flipH="1" rot="10800000">
            <a:off x="3866888" y="2100650"/>
            <a:ext cx="1451400" cy="1451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1"/>
          <p:cNvSpPr/>
          <p:nvPr/>
        </p:nvSpPr>
        <p:spPr>
          <a:xfrm rot="8100000">
            <a:off x="3867141" y="2100646"/>
            <a:ext cx="1451407" cy="1451407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3329400" y="1374950"/>
            <a:ext cx="4524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 : Transposer le problème de 360 ° à 180 °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53" name="Google Shape;553;p31"/>
          <p:cNvCxnSpPr>
            <a:stCxn id="550" idx="4"/>
            <a:endCxn id="550" idx="0"/>
          </p:cNvCxnSpPr>
          <p:nvPr/>
        </p:nvCxnSpPr>
        <p:spPr>
          <a:xfrm>
            <a:off x="4592588" y="210065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4" name="Google Shape;554;p31"/>
          <p:cNvSpPr txBox="1"/>
          <p:nvPr/>
        </p:nvSpPr>
        <p:spPr>
          <a:xfrm flipH="1" rot="10800000">
            <a:off x="4427125" y="353320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5" name="Google Shape;555;p31"/>
          <p:cNvSpPr txBox="1"/>
          <p:nvPr/>
        </p:nvSpPr>
        <p:spPr>
          <a:xfrm flipH="1">
            <a:off x="3760463" y="214391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6" name="Google Shape;556;p31"/>
          <p:cNvSpPr txBox="1"/>
          <p:nvPr/>
        </p:nvSpPr>
        <p:spPr>
          <a:xfrm flipH="1">
            <a:off x="4768525" y="2138525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57" name="Google Shape;557;p31"/>
          <p:cNvCxnSpPr>
            <a:stCxn id="550" idx="6"/>
            <a:endCxn id="550" idx="2"/>
          </p:cNvCxnSpPr>
          <p:nvPr/>
        </p:nvCxnSpPr>
        <p:spPr>
          <a:xfrm rot="10800000">
            <a:off x="3866888" y="282635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" name="Google Shape;558;p31"/>
          <p:cNvSpPr txBox="1"/>
          <p:nvPr/>
        </p:nvSpPr>
        <p:spPr>
          <a:xfrm flipH="1">
            <a:off x="5271150" y="257030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9" name="Google Shape;559;p31"/>
          <p:cNvSpPr txBox="1"/>
          <p:nvPr/>
        </p:nvSpPr>
        <p:spPr>
          <a:xfrm flipH="1">
            <a:off x="3169325" y="25810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60" name="Google Shape;560;p31"/>
          <p:cNvCxnSpPr>
            <a:endCxn id="550" idx="7"/>
          </p:cNvCxnSpPr>
          <p:nvPr/>
        </p:nvCxnSpPr>
        <p:spPr>
          <a:xfrm>
            <a:off x="4065635" y="3338597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31"/>
          <p:cNvSpPr/>
          <p:nvPr/>
        </p:nvSpPr>
        <p:spPr>
          <a:xfrm>
            <a:off x="1515300" y="3483050"/>
            <a:ext cx="2881200" cy="13077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V/C = |Angle V/C|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PositionVoile = Min + K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avec : t le temps supp à l’état haut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K = (Angle V/C) / Angle(Max - Min) * t</a:t>
            </a:r>
            <a:endParaRPr sz="1100"/>
          </a:p>
        </p:txBody>
      </p:sp>
      <p:sp>
        <p:nvSpPr>
          <p:cNvPr id="562" name="Google Shape;562;p31"/>
          <p:cNvSpPr txBox="1"/>
          <p:nvPr/>
        </p:nvSpPr>
        <p:spPr>
          <a:xfrm>
            <a:off x="5399600" y="53350"/>
            <a:ext cx="24117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Hypothèses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Direction VA et boussole donnée sur 0, 360.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Angle V/C sur 0,360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563" name="Google Shape;563;p31"/>
          <p:cNvCxnSpPr/>
          <p:nvPr/>
        </p:nvCxnSpPr>
        <p:spPr>
          <a:xfrm flipH="1">
            <a:off x="4588688" y="2100650"/>
            <a:ext cx="3900" cy="7257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1"/>
          <p:cNvCxnSpPr/>
          <p:nvPr/>
        </p:nvCxnSpPr>
        <p:spPr>
          <a:xfrm rot="10800000">
            <a:off x="3829963" y="2780863"/>
            <a:ext cx="743100" cy="267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31"/>
          <p:cNvSpPr txBox="1"/>
          <p:nvPr/>
        </p:nvSpPr>
        <p:spPr>
          <a:xfrm>
            <a:off x="2356825" y="240755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00FF"/>
                </a:solidFill>
              </a:rPr>
              <a:t>Angle de pilotage de la voile</a:t>
            </a:r>
            <a:endParaRPr sz="1200">
              <a:solidFill>
                <a:srgbClr val="FF00FF"/>
              </a:solidFill>
            </a:endParaRPr>
          </a:p>
        </p:txBody>
      </p:sp>
      <p:sp>
        <p:nvSpPr>
          <p:cNvPr id="566" name="Google Shape;566;p31"/>
          <p:cNvSpPr txBox="1"/>
          <p:nvPr/>
        </p:nvSpPr>
        <p:spPr>
          <a:xfrm>
            <a:off x="5228875" y="33507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7" name="Google Shape;567;p31"/>
          <p:cNvSpPr txBox="1"/>
          <p:nvPr/>
        </p:nvSpPr>
        <p:spPr>
          <a:xfrm>
            <a:off x="3393500" y="3195050"/>
            <a:ext cx="74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-40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8" name="Google Shape;568;p31"/>
          <p:cNvSpPr txBox="1"/>
          <p:nvPr/>
        </p:nvSpPr>
        <p:spPr>
          <a:xfrm>
            <a:off x="4583300" y="2376438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</a:rPr>
              <a:t>Angle de navigation du vent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569" name="Google Shape;569;p31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570" name="Google Shape;570;p31"/>
          <p:cNvSpPr txBox="1"/>
          <p:nvPr/>
        </p:nvSpPr>
        <p:spPr>
          <a:xfrm>
            <a:off x="1657363" y="395788"/>
            <a:ext cx="819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SE4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"/>
          <p:cNvSpPr/>
          <p:nvPr/>
        </p:nvSpPr>
        <p:spPr>
          <a:xfrm>
            <a:off x="1341775" y="1150100"/>
            <a:ext cx="6512100" cy="3631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6" name="Google Shape;5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2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2"/>
          <p:cNvSpPr/>
          <p:nvPr/>
        </p:nvSpPr>
        <p:spPr>
          <a:xfrm>
            <a:off x="1296375" y="185500"/>
            <a:ext cx="1653300" cy="81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579" name="Google Shape;579;p32"/>
          <p:cNvSpPr txBox="1"/>
          <p:nvPr/>
        </p:nvSpPr>
        <p:spPr>
          <a:xfrm>
            <a:off x="1657363" y="395788"/>
            <a:ext cx="819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9900"/>
                </a:solidFill>
              </a:rPr>
              <a:t>SE4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80" name="Google Shape;580;p32"/>
          <p:cNvSpPr/>
          <p:nvPr/>
        </p:nvSpPr>
        <p:spPr>
          <a:xfrm>
            <a:off x="1522700" y="1299175"/>
            <a:ext cx="1870800" cy="1029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 |V/C| &gt; 90 °?</a:t>
            </a:r>
            <a:endParaRPr/>
          </a:p>
        </p:txBody>
      </p:sp>
      <p:sp>
        <p:nvSpPr>
          <p:cNvPr id="581" name="Google Shape;581;p32"/>
          <p:cNvSpPr/>
          <p:nvPr/>
        </p:nvSpPr>
        <p:spPr>
          <a:xfrm>
            <a:off x="3866888" y="2475700"/>
            <a:ext cx="1451400" cy="14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2"/>
          <p:cNvSpPr txBox="1"/>
          <p:nvPr/>
        </p:nvSpPr>
        <p:spPr>
          <a:xfrm>
            <a:off x="3329400" y="1374950"/>
            <a:ext cx="4524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 : Transposer le problème de 360 ° à 180 °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83" name="Google Shape;583;p32"/>
          <p:cNvCxnSpPr>
            <a:stCxn id="581" idx="4"/>
            <a:endCxn id="581" idx="0"/>
          </p:cNvCxnSpPr>
          <p:nvPr/>
        </p:nvCxnSpPr>
        <p:spPr>
          <a:xfrm rot="10800000">
            <a:off x="4592588" y="2475700"/>
            <a:ext cx="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4" name="Google Shape;584;p32"/>
          <p:cNvSpPr txBox="1"/>
          <p:nvPr/>
        </p:nvSpPr>
        <p:spPr>
          <a:xfrm>
            <a:off x="4427125" y="2100650"/>
            <a:ext cx="34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5" name="Google Shape;585;p32"/>
          <p:cNvSpPr txBox="1"/>
          <p:nvPr/>
        </p:nvSpPr>
        <p:spPr>
          <a:xfrm>
            <a:off x="4609825" y="3457450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-180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3934275" y="3457450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180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87" name="Google Shape;587;p32"/>
          <p:cNvCxnSpPr>
            <a:stCxn id="581" idx="6"/>
            <a:endCxn id="581" idx="2"/>
          </p:cNvCxnSpPr>
          <p:nvPr/>
        </p:nvCxnSpPr>
        <p:spPr>
          <a:xfrm rot="10800000">
            <a:off x="3866888" y="3201400"/>
            <a:ext cx="14514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32"/>
          <p:cNvSpPr txBox="1"/>
          <p:nvPr/>
        </p:nvSpPr>
        <p:spPr>
          <a:xfrm>
            <a:off x="3169325" y="2934575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9" name="Google Shape;589;p32"/>
          <p:cNvSpPr txBox="1"/>
          <p:nvPr/>
        </p:nvSpPr>
        <p:spPr>
          <a:xfrm>
            <a:off x="5271150" y="2945350"/>
            <a:ext cx="641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-90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90" name="Google Shape;590;p32"/>
          <p:cNvCxnSpPr>
            <a:stCxn id="581" idx="1"/>
          </p:cNvCxnSpPr>
          <p:nvPr/>
        </p:nvCxnSpPr>
        <p:spPr>
          <a:xfrm>
            <a:off x="4079440" y="2688253"/>
            <a:ext cx="530400" cy="53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32"/>
          <p:cNvCxnSpPr>
            <a:stCxn id="581" idx="7"/>
          </p:cNvCxnSpPr>
          <p:nvPr/>
        </p:nvCxnSpPr>
        <p:spPr>
          <a:xfrm flipH="1">
            <a:off x="4609835" y="2688253"/>
            <a:ext cx="495900" cy="52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32"/>
          <p:cNvCxnSpPr>
            <a:endCxn id="581" idx="7"/>
          </p:cNvCxnSpPr>
          <p:nvPr/>
        </p:nvCxnSpPr>
        <p:spPr>
          <a:xfrm flipH="1" rot="10800000">
            <a:off x="4065635" y="2688253"/>
            <a:ext cx="1040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32"/>
          <p:cNvSpPr/>
          <p:nvPr/>
        </p:nvSpPr>
        <p:spPr>
          <a:xfrm>
            <a:off x="1522700" y="3810150"/>
            <a:ext cx="2881200" cy="9705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 val &gt; 180 = 360 - Angle</a:t>
            </a:r>
            <a:endParaRPr/>
          </a:p>
        </p:txBody>
      </p:sp>
      <p:sp>
        <p:nvSpPr>
          <p:cNvPr id="594" name="Google Shape;594;p32"/>
          <p:cNvSpPr txBox="1"/>
          <p:nvPr/>
        </p:nvSpPr>
        <p:spPr>
          <a:xfrm>
            <a:off x="5399600" y="53350"/>
            <a:ext cx="24117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Hypothèses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Direction VA et boussole donnée sur 0, 360.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Angle V/C sur 0,360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5" name="Google Shape;595;p32"/>
          <p:cNvSpPr/>
          <p:nvPr/>
        </p:nvSpPr>
        <p:spPr>
          <a:xfrm>
            <a:off x="5802150" y="1974850"/>
            <a:ext cx="2881200" cy="24963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Position GV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= 180 - Angle |V/C|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3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3"/>
          <p:cNvSpPr txBox="1"/>
          <p:nvPr/>
        </p:nvSpPr>
        <p:spPr>
          <a:xfrm>
            <a:off x="1352425" y="181025"/>
            <a:ext cx="21084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Organisation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3" name="Google Shape;603;p33"/>
          <p:cNvSpPr txBox="1"/>
          <p:nvPr/>
        </p:nvSpPr>
        <p:spPr>
          <a:xfrm>
            <a:off x="1512175" y="1277900"/>
            <a:ext cx="62724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Dépendance de matériel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604" name="Google Shape;604;p33"/>
          <p:cNvGraphicFramePr/>
          <p:nvPr/>
        </p:nvGraphicFramePr>
        <p:xfrm>
          <a:off x="1352375" y="167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{9664131B-A384-4A02-BF38-94608B7EF921}</a:tableStyleId>
              </a:tblPr>
              <a:tblGrid>
                <a:gridCol w="3216100"/>
                <a:gridCol w="3216100"/>
              </a:tblGrid>
              <a:tr h="39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Girouette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direction/sens/vitesse </a:t>
                      </a:r>
                      <a:r>
                        <a:rPr lang="fr"/>
                        <a:t>vent </a:t>
                      </a:r>
                      <a:r>
                        <a:rPr lang="fr"/>
                        <a:t>apparent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00FF"/>
                          </a:solidFill>
                        </a:rPr>
                        <a:t>Boussole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00FF"/>
                          </a:solidFill>
                        </a:rPr>
                        <a:t>direction/sens 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fr"/>
                        <a:t>cap) navire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00FF"/>
                          </a:solidFill>
                        </a:rPr>
                        <a:t>IMU/GPS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00FF"/>
                          </a:solidFill>
                        </a:rPr>
                        <a:t>vitesse/sens </a:t>
                      </a:r>
                      <a:r>
                        <a:rPr lang="fr"/>
                        <a:t>navire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00FF"/>
                          </a:solidFill>
                        </a:rPr>
                        <a:t>G</a:t>
                      </a:r>
                      <a:r>
                        <a:rPr lang="fr">
                          <a:solidFill>
                            <a:srgbClr val="0000FF"/>
                          </a:solidFill>
                        </a:rPr>
                        <a:t>yroscope (IMU)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00FF"/>
                          </a:solidFill>
                        </a:rPr>
                        <a:t>G</a:t>
                      </a:r>
                      <a:r>
                        <a:rPr lang="fr">
                          <a:solidFill>
                            <a:srgbClr val="0000FF"/>
                          </a:solidFill>
                        </a:rPr>
                        <a:t>îte </a:t>
                      </a:r>
                      <a:r>
                        <a:rPr lang="fr"/>
                        <a:t>navire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FF00"/>
                          </a:solidFill>
                        </a:rPr>
                        <a:t>Servo Brushless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FF00"/>
                          </a:solidFill>
                        </a:rPr>
                        <a:t>Position angulaire</a:t>
                      </a:r>
                      <a:r>
                        <a:rPr lang="fr"/>
                        <a:t> Grand Voile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05" name="Google Shape;605;p33"/>
          <p:cNvGraphicFramePr/>
          <p:nvPr/>
        </p:nvGraphicFramePr>
        <p:xfrm>
          <a:off x="1352375" y="365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{9664131B-A384-4A02-BF38-94608B7EF921}</a:tableStyleId>
              </a:tblPr>
              <a:tblGrid>
                <a:gridCol w="1043650"/>
                <a:gridCol w="2172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KAD/GUI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Autres sous-groupe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(valeurs à simuler)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Alex/Max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ego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Ma responsabilité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4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4"/>
          <p:cNvSpPr txBox="1"/>
          <p:nvPr/>
        </p:nvSpPr>
        <p:spPr>
          <a:xfrm>
            <a:off x="1352425" y="181025"/>
            <a:ext cx="21084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Organisation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613" name="Google Shape;613;p34"/>
          <p:cNvGraphicFramePr/>
          <p:nvPr/>
        </p:nvGraphicFramePr>
        <p:xfrm>
          <a:off x="14956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{9664131B-A384-4A02-BF38-94608B7EF921}</a:tableStyleId>
              </a:tblPr>
              <a:tblGrid>
                <a:gridCol w="5993075"/>
              </a:tblGrid>
              <a:tr h="3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1: Récupérer les valeurs </a:t>
                      </a:r>
                      <a:r>
                        <a:rPr lang="fr"/>
                        <a:t>extremum</a:t>
                      </a:r>
                      <a:r>
                        <a:rPr lang="fr"/>
                        <a:t> des servos avant butée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2: Coder les drivers de la GV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3: Coder un test simulant les capteur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4: Test avec simulation des capteur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5: Test en condition réel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3" y="29298"/>
            <a:ext cx="1316606" cy="97060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5"/>
          <p:cNvSpPr/>
          <p:nvPr/>
        </p:nvSpPr>
        <p:spPr>
          <a:xfrm>
            <a:off x="3803850" y="0"/>
            <a:ext cx="1536300" cy="1029300"/>
          </a:xfrm>
          <a:prstGeom prst="frame">
            <a:avLst>
              <a:gd fmla="val 12500" name="adj1"/>
            </a:avLst>
          </a:prstGeom>
          <a:solidFill>
            <a:srgbClr val="F1C232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5"/>
          <p:cNvSpPr txBox="1"/>
          <p:nvPr/>
        </p:nvSpPr>
        <p:spPr>
          <a:xfrm>
            <a:off x="1352425" y="181025"/>
            <a:ext cx="21084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Extremum servo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621" name="Google Shape;621;p35"/>
          <p:cNvGraphicFramePr/>
          <p:nvPr/>
        </p:nvGraphicFramePr>
        <p:xfrm>
          <a:off x="14956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{9664131B-A384-4A02-BF38-94608B7EF921}</a:tableStyleId>
              </a:tblPr>
              <a:tblGrid>
                <a:gridCol w="2996550"/>
                <a:gridCol w="2996550"/>
              </a:tblGrid>
              <a:tr h="3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Servo GV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Max Choqué 1.32 - Max Bordé 1.8 ms)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Servo Safran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gauche : 1.64ms, droite : 0,96ms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